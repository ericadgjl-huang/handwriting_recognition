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444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8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243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028ED-9424-36DC-F041-ED5AEA1D3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82CD2C-A1EE-77D7-3290-B7AD167B2C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5C653-097D-180A-4141-39FA54DAB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DE38A-407E-792E-DDFE-B465F153BD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769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HW2  ·  作業二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手寫數字辨識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 Dataset · 8 種方法 · 4 種神經網路視角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Mean / SVD / HOSVD 到 MLP / CNN / RNN / LSTM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報告人</a:t>
            </a: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</a:t>
            </a:r>
            <a:r>
              <a:rPr lang="zh-TW" alt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黃紹綱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資料分析數學 · 2026 Spring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DAEDD-89A7-FC05-F288-E6001CA1E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01F144-09CB-2C57-022F-BFAD4CBFDBCE}"/>
              </a:ext>
            </a:extLst>
          </p:cNvPr>
          <p:cNvSpPr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開場與資料前處理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A81284A-1D16-39AB-3C2A-98C072106C5A}"/>
              </a:ext>
            </a:extLst>
          </p:cNvPr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任務介紹 與 7 步前處理 Pipeline</a:t>
            </a:r>
            <a:endParaRPr lang="en-US" sz="28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A07C47D-B3F1-D28C-B6F6-949A1BF49EB8}"/>
              </a:ext>
            </a:extLst>
          </p:cNvPr>
          <p:cNvSpPr/>
          <p:nvPr/>
        </p:nvSpPr>
        <p:spPr>
          <a:xfrm>
            <a:off x="457200" y="1380744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744092E-BF0A-E846-B42E-8733C174E10B}"/>
              </a:ext>
            </a:extLst>
          </p:cNvPr>
          <p:cNvSpPr/>
          <p:nvPr/>
        </p:nvSpPr>
        <p:spPr>
          <a:xfrm>
            <a:off x="457200" y="1380744"/>
            <a:ext cx="73152" cy="32918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44D4099-0FE9-1303-88D3-20ECBB7F74B8}"/>
              </a:ext>
            </a:extLst>
          </p:cNvPr>
          <p:cNvSpPr/>
          <p:nvPr/>
        </p:nvSpPr>
        <p:spPr>
          <a:xfrm>
            <a:off x="685800" y="1472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7 步驟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458004D-4443-0CD7-9E0D-7EDF50798EA9}"/>
              </a:ext>
            </a:extLst>
          </p:cNvPr>
          <p:cNvSpPr/>
          <p:nvPr/>
        </p:nvSpPr>
        <p:spPr>
          <a:xfrm>
            <a:off x="685800" y="1764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確保輸入維度一致</a:t>
            </a:r>
            <a:endParaRPr lang="en-US" sz="17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FC31EB12-6607-9E3E-0366-2842CB98C423}"/>
              </a:ext>
            </a:extLst>
          </p:cNvPr>
          <p:cNvSpPr/>
          <p:nvPr/>
        </p:nvSpPr>
        <p:spPr>
          <a:xfrm>
            <a:off x="685800" y="2249424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12B2F3B5-2842-5E22-B0DE-3083A69F76A1}"/>
              </a:ext>
            </a:extLst>
          </p:cNvPr>
          <p:cNvSpPr/>
          <p:nvPr/>
        </p:nvSpPr>
        <p:spPr>
          <a:xfrm>
            <a:off x="685800" y="22494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70C2D24-E84D-6336-09FD-D4AE8169213E}"/>
              </a:ext>
            </a:extLst>
          </p:cNvPr>
          <p:cNvSpPr/>
          <p:nvPr/>
        </p:nvSpPr>
        <p:spPr>
          <a:xfrm>
            <a:off x="1005840" y="22311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灰階</a:t>
            </a:r>
            <a:endParaRPr lang="en-US" sz="11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45C1938-F22D-A9A1-670E-AC842BD6CA53}"/>
              </a:ext>
            </a:extLst>
          </p:cNvPr>
          <p:cNvSpPr/>
          <p:nvPr/>
        </p:nvSpPr>
        <p:spPr>
          <a:xfrm>
            <a:off x="2651760" y="22311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convert("L")</a:t>
            </a:r>
            <a:endParaRPr lang="en-US" sz="10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DD4658BD-4D59-78C7-5EB1-FA0151D68E01}"/>
              </a:ext>
            </a:extLst>
          </p:cNvPr>
          <p:cNvSpPr/>
          <p:nvPr/>
        </p:nvSpPr>
        <p:spPr>
          <a:xfrm>
            <a:off x="685800" y="2578608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7232F4C8-AC28-811A-FD0F-B35C5ED33334}"/>
              </a:ext>
            </a:extLst>
          </p:cNvPr>
          <p:cNvSpPr/>
          <p:nvPr/>
        </p:nvSpPr>
        <p:spPr>
          <a:xfrm>
            <a:off x="685800" y="2578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81E57523-23B9-FA72-BE0E-CED0DA625F9F}"/>
              </a:ext>
            </a:extLst>
          </p:cNvPr>
          <p:cNvSpPr/>
          <p:nvPr/>
        </p:nvSpPr>
        <p:spPr>
          <a:xfrm>
            <a:off x="100584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反白</a:t>
            </a:r>
            <a:endParaRPr lang="en-US" sz="115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FEE2382D-F3D4-353C-EDE6-568DFA09EB32}"/>
              </a:ext>
            </a:extLst>
          </p:cNvPr>
          <p:cNvSpPr/>
          <p:nvPr/>
        </p:nvSpPr>
        <p:spPr>
          <a:xfrm>
            <a:off x="2651760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255 − arr</a:t>
            </a:r>
            <a:endParaRPr lang="en-US" sz="1000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3B3D7753-CA32-218B-CABB-28F3AB41D6D8}"/>
              </a:ext>
            </a:extLst>
          </p:cNvPr>
          <p:cNvSpPr/>
          <p:nvPr/>
        </p:nvSpPr>
        <p:spPr>
          <a:xfrm>
            <a:off x="685800" y="290779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BE87137D-CAAF-F263-17E2-097EA94CADD6}"/>
              </a:ext>
            </a:extLst>
          </p:cNvPr>
          <p:cNvSpPr/>
          <p:nvPr/>
        </p:nvSpPr>
        <p:spPr>
          <a:xfrm>
            <a:off x="685800" y="29077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49E7EA64-2919-7F7A-E67F-9E2819543B59}"/>
              </a:ext>
            </a:extLst>
          </p:cNvPr>
          <p:cNvSpPr/>
          <p:nvPr/>
        </p:nvSpPr>
        <p:spPr>
          <a:xfrm>
            <a:off x="1005840" y="28895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降噪二值化</a:t>
            </a:r>
            <a:endParaRPr lang="en-US" sz="115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F123BEFF-9CD5-BEF3-09F6-F7B20D728FE5}"/>
              </a:ext>
            </a:extLst>
          </p:cNvPr>
          <p:cNvSpPr/>
          <p:nvPr/>
        </p:nvSpPr>
        <p:spPr>
          <a:xfrm>
            <a:off x="2651760" y="28895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mean 留筆畫</a:t>
            </a:r>
            <a:endParaRPr lang="en-US" sz="1000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DA3947B0-0B52-1CBA-A17F-77A19FEBEC27}"/>
              </a:ext>
            </a:extLst>
          </p:cNvPr>
          <p:cNvSpPr/>
          <p:nvPr/>
        </p:nvSpPr>
        <p:spPr>
          <a:xfrm>
            <a:off x="685800" y="3236976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D5E100ED-2733-A94E-10B9-2C8C3DC4B33C}"/>
              </a:ext>
            </a:extLst>
          </p:cNvPr>
          <p:cNvSpPr/>
          <p:nvPr/>
        </p:nvSpPr>
        <p:spPr>
          <a:xfrm>
            <a:off x="685800" y="32369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09A52114-E300-7D0C-BB86-45584472BE10}"/>
              </a:ext>
            </a:extLst>
          </p:cNvPr>
          <p:cNvSpPr/>
          <p:nvPr/>
        </p:nvSpPr>
        <p:spPr>
          <a:xfrm>
            <a:off x="1005840" y="3218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裁切邊界</a:t>
            </a:r>
            <a:endParaRPr lang="en-US" sz="115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8D015C46-29D9-43AF-E2FB-FDF7F45EA667}"/>
              </a:ext>
            </a:extLst>
          </p:cNvPr>
          <p:cNvSpPr/>
          <p:nvPr/>
        </p:nvSpPr>
        <p:spPr>
          <a:xfrm>
            <a:off x="2651760" y="32186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bounding box</a:t>
            </a:r>
            <a:endParaRPr lang="en-US" sz="1000" dirty="0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10AED488-8031-0B28-1C38-62A5AD97AE95}"/>
              </a:ext>
            </a:extLst>
          </p:cNvPr>
          <p:cNvSpPr/>
          <p:nvPr/>
        </p:nvSpPr>
        <p:spPr>
          <a:xfrm>
            <a:off x="685800" y="356616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56D1D318-7684-20A6-A66C-B79ACE0C3498}"/>
              </a:ext>
            </a:extLst>
          </p:cNvPr>
          <p:cNvSpPr/>
          <p:nvPr/>
        </p:nvSpPr>
        <p:spPr>
          <a:xfrm>
            <a:off x="685800" y="3566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A219EAD9-F6D5-151C-75FD-858F61C1AC73}"/>
              </a:ext>
            </a:extLst>
          </p:cNvPr>
          <p:cNvSpPr/>
          <p:nvPr/>
        </p:nvSpPr>
        <p:spPr>
          <a:xfrm>
            <a:off x="1005840" y="3547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補方形</a:t>
            </a:r>
            <a:endParaRPr lang="en-US" sz="11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986EE08-31AE-F841-7513-269AF0EB52D1}"/>
              </a:ext>
            </a:extLst>
          </p:cNvPr>
          <p:cNvSpPr/>
          <p:nvPr/>
        </p:nvSpPr>
        <p:spPr>
          <a:xfrm>
            <a:off x="2651760" y="3547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× 1.2</a:t>
            </a:r>
            <a:endParaRPr lang="en-US" sz="1000" dirty="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7AFDBF2A-57CC-6A93-0BE4-0B834AD74143}"/>
              </a:ext>
            </a:extLst>
          </p:cNvPr>
          <p:cNvSpPr/>
          <p:nvPr/>
        </p:nvSpPr>
        <p:spPr>
          <a:xfrm>
            <a:off x="685800" y="3895344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8864EB3E-289D-241E-DA12-40E1857470B6}"/>
              </a:ext>
            </a:extLst>
          </p:cNvPr>
          <p:cNvSpPr/>
          <p:nvPr/>
        </p:nvSpPr>
        <p:spPr>
          <a:xfrm>
            <a:off x="685800" y="38953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C9191FCB-604F-582C-670E-7D506CE32652}"/>
              </a:ext>
            </a:extLst>
          </p:cNvPr>
          <p:cNvSpPr/>
          <p:nvPr/>
        </p:nvSpPr>
        <p:spPr>
          <a:xfrm>
            <a:off x="1005840" y="38770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縮放 16×16</a:t>
            </a:r>
            <a:endParaRPr lang="en-US" sz="1150" dirty="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F1B2F60E-7FB8-FD33-48FA-A22389218240}"/>
              </a:ext>
            </a:extLst>
          </p:cNvPr>
          <p:cNvSpPr/>
          <p:nvPr/>
        </p:nvSpPr>
        <p:spPr>
          <a:xfrm>
            <a:off x="2651760" y="38770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LANCZOS</a:t>
            </a:r>
            <a:endParaRPr lang="en-US" sz="1000" dirty="0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C4E26E39-69DB-8F05-F0F2-0AB94D130AAF}"/>
              </a:ext>
            </a:extLst>
          </p:cNvPr>
          <p:cNvSpPr/>
          <p:nvPr/>
        </p:nvSpPr>
        <p:spPr>
          <a:xfrm>
            <a:off x="685800" y="4224528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CF50E009-488A-0F5B-C9CC-1095F3DEF3C8}"/>
              </a:ext>
            </a:extLst>
          </p:cNvPr>
          <p:cNvSpPr/>
          <p:nvPr/>
        </p:nvSpPr>
        <p:spPr>
          <a:xfrm>
            <a:off x="685800" y="42245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52BA27DC-01ED-AC31-AD6B-05318A37FF1D}"/>
              </a:ext>
            </a:extLst>
          </p:cNvPr>
          <p:cNvSpPr/>
          <p:nvPr/>
        </p:nvSpPr>
        <p:spPr>
          <a:xfrm>
            <a:off x="100584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正規化</a:t>
            </a:r>
            <a:endParaRPr lang="en-US" sz="1150" dirty="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6A643E66-D7AF-A397-3F80-74FDC0920B89}"/>
              </a:ext>
            </a:extLst>
          </p:cNvPr>
          <p:cNvSpPr/>
          <p:nvPr/>
        </p:nvSpPr>
        <p:spPr>
          <a:xfrm>
            <a:off x="265176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÷ 255 → [0,1]</a:t>
            </a:r>
            <a:endParaRPr lang="en-US" sz="1000" dirty="0"/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B4A27997-F3C3-D9F9-010C-EEEBF1FA5745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6" name="圖片 45">
            <a:extLst>
              <a:ext uri="{FF2B5EF4-FFF2-40B4-BE49-F238E27FC236}">
                <a16:creationId xmlns:a16="http://schemas.microsoft.com/office/drawing/2014/main" id="{058D4801-21BC-52B3-C1B7-18F91F38D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694" y="1380744"/>
            <a:ext cx="2393905" cy="2875437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4EAB8300-3A2F-A7A2-4E03-661252237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695" y="4249405"/>
            <a:ext cx="2393905" cy="28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294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開場與資料前處理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任務介紹 與 7 步前處理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329184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資料對比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755648"/>
            <a:ext cx="563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 原始 vs </a:t>
            </a:r>
            <a:r>
              <a:rPr lang="en-US" sz="17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手機照片</a:t>
            </a:r>
            <a:r>
              <a:rPr lang="en-US" altLang="zh-TW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zh-TW" alt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已處理但因為拍攝角度還是存在陰影</a:t>
            </a:r>
            <a:r>
              <a:rPr lang="en-US" altLang="zh-TW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700" dirty="0"/>
          </a:p>
        </p:txBody>
      </p:sp>
      <p:pic>
        <p:nvPicPr>
          <p:cNvPr id="8" name="Image 0" descr="/sessions/eager-magical-pascal/mnt/outputs/notebook_images/cell5_ou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86000"/>
            <a:ext cx="3566160" cy="1508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822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USPS：16×16 灰階、[0,1] 數值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825726" y="3822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 手機照片：彩色、長方形、有陰影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85800" y="4334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必須對齊「相同分佈」才能餵給模型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2EF48320-2389-18F9-F9CA-4466417FC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286" y="2318004"/>
            <a:ext cx="3723914" cy="15087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Mean 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</a:t>
            </a:r>
            <a:r>
              <a:rPr lang="en-US" sz="28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法：把變異性都平均掉了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張「平均代表圖」</a:t>
            </a:r>
            <a:endParaRPr lang="en-US" sz="1300" dirty="0"/>
          </a:p>
        </p:txBody>
      </p:sp>
      <p:pic>
        <p:nvPicPr>
          <p:cNvPr id="6" name="Image 0" descr="/sessions/eager-magical-pascal/mnt/outputs/notebook_images/cell8_ou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47548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977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模糊、糊成一團，所有人的筆跡被「平均」掉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4251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距離最小 = 預測類別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0" y="1371600"/>
            <a:ext cx="2926080" cy="1463040"/>
          </a:xfrm>
          <a:prstGeom prst="rect">
            <a:avLst/>
          </a:prstGeom>
          <a:solidFill>
            <a:srgbClr val="CCFB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9788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 測試集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97880" y="1737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81.4%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589788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基礎可用，但無法描述「同類變異」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907BB84F-77CF-008A-3B3F-85290EEBA151}"/>
              </a:ext>
            </a:extLst>
          </p:cNvPr>
          <p:cNvSpPr/>
          <p:nvPr/>
        </p:nvSpPr>
        <p:spPr>
          <a:xfrm>
            <a:off x="5760720" y="3200400"/>
            <a:ext cx="2926080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7263A377-D22D-7265-9A5F-A32A43FFCE05}"/>
              </a:ext>
            </a:extLst>
          </p:cNvPr>
          <p:cNvSpPr/>
          <p:nvPr/>
        </p:nvSpPr>
        <p:spPr>
          <a:xfrm>
            <a:off x="5897880" y="3291840"/>
            <a:ext cx="2743200" cy="27432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自己手寫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D0B23E18-58C0-C984-01F7-8BCD7B5ED32D}"/>
              </a:ext>
            </a:extLst>
          </p:cNvPr>
          <p:cNvSpPr/>
          <p:nvPr/>
        </p:nvSpPr>
        <p:spPr>
          <a:xfrm>
            <a:off x="5897880" y="3566160"/>
            <a:ext cx="2743200" cy="82296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6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6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2626CE16-3072-0781-AE5A-9147349AC683}"/>
              </a:ext>
            </a:extLst>
          </p:cNvPr>
          <p:cNvSpPr/>
          <p:nvPr/>
        </p:nvSpPr>
        <p:spPr>
          <a:xfrm>
            <a:off x="5897880" y="4389120"/>
            <a:ext cx="2743200" cy="22860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9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無法辨識，基本靠猜</a:t>
            </a:r>
            <a:endParaRPr lang="en-US" sz="9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矩陣分解</a:t>
            </a:r>
            <a:r>
              <a:rPr lang="en-US" sz="12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SVD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子空間投影：抓出「主要變異」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329184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演算法核心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個基底 描述同類多種寫法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685800" y="2194560"/>
                <a:ext cx="3657600" cy="1554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b="1" dirty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對每個類別 c：
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𝐴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𝑐</m:t>
                        </m:r>
                      </m:sub>
                    </m:sSub>
                    <m:r>
                      <a:rPr lang="en-US" sz="1200" i="1" dirty="0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 = </m:t>
                    </m:r>
                    <m:sSub>
                      <m:sSubPr>
                        <m:ctrlPr>
                          <a:rPr lang="en-US" sz="1200" i="1" dirty="0" err="1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</m:ctrlPr>
                      </m:sSubPr>
                      <m:e>
                        <m:r>
                          <a:rPr lang="en-US" sz="1200" i="1" dirty="0" err="1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𝑈</m:t>
                        </m:r>
                      </m:e>
                      <m:sub>
                        <m:r>
                          <a:rPr lang="en-US" sz="1200" i="1" dirty="0" err="1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𝑐</m:t>
                        </m:r>
                      </m:sub>
                    </m:sSub>
                    <m:r>
                      <a:rPr lang="en-US" sz="1200" i="1" dirty="0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 </m:t>
                    </m:r>
                    <m:sSub>
                      <m:sSubPr>
                        <m:ctrlPr>
                          <a:rPr lang="en-US" sz="1200" i="1" dirty="0" err="1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i="0" dirty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Σ</m:t>
                        </m:r>
                      </m:e>
                      <m:sub>
                        <m:r>
                          <a:rPr lang="en-US" sz="1200" i="1" dirty="0" err="1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𝑐</m:t>
                        </m:r>
                      </m:sub>
                    </m:sSub>
                    <m:r>
                      <a:rPr lang="en-US" sz="1200" i="1" dirty="0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 </m:t>
                    </m:r>
                    <m:sSubSup>
                      <m:sSubSupPr>
                        <m:ctrlPr>
                          <a:rPr lang="en-US" sz="1200" i="1" dirty="0" err="1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</m:ctrlPr>
                      </m:sSubSupPr>
                      <m:e>
                        <m:r>
                          <a:rPr lang="en-US" sz="1200" i="1" dirty="0" err="1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𝑉</m:t>
                        </m:r>
                      </m:e>
                      <m:sub>
                        <m:r>
                          <a:rPr lang="en-US" sz="1200" i="1" dirty="0" err="1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𝑐</m:t>
                        </m:r>
                      </m:sub>
                      <m:sup>
                        <m:r>
                          <a:rPr lang="en-US" sz="1200" i="1" dirty="0" err="1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sz="1200" dirty="0">
                    <a:solidFill>
                      <a:srgbClr val="47556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
  取前 k </a:t>
                </a:r>
                <a:r>
                  <a:rPr lang="en-US" sz="1200" dirty="0" err="1">
                    <a:solidFill>
                      <a:srgbClr val="47556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個左奇異向量</a:t>
                </a:r>
                <a:r>
                  <a:rPr lang="en-US" sz="1200" dirty="0">
                    <a:solidFill>
                      <a:srgbClr val="47556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𝑈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𝑐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200" i="1" dirty="0" smtClean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</m:ctrlPr>
                      </m:dPr>
                      <m:e>
                        <m:r>
                          <a:rPr lang="en-US" sz="1200" i="1" dirty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:,:</m:t>
                        </m:r>
                        <m:r>
                          <a:rPr lang="en-US" sz="1200" i="1" dirty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1200" dirty="0">
                    <a:solidFill>
                      <a:srgbClr val="47556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
</a:t>
                </a:r>
                <a:r>
                  <a:rPr lang="en-US" sz="1200" b="1" dirty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預測殘差：
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1200" i="1" dirty="0" smtClean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</m:ctrlPr>
                      </m:sSubPr>
                      <m:e>
                        <m:r>
                          <a:rPr lang="pl-PL" sz="1200" i="1" dirty="0" smtClean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𝑟</m:t>
                        </m:r>
                      </m:e>
                      <m:sub>
                        <m:r>
                          <a:rPr lang="pl-PL" sz="1200" i="1" dirty="0" smtClean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𝑐</m:t>
                        </m:r>
                      </m:sub>
                    </m:sSub>
                    <m:r>
                      <a:rPr lang="pl-PL" sz="1200" i="1" dirty="0" smtClean="0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=</m:t>
                    </m:r>
                    <m:r>
                      <m:rPr>
                        <m:lit/>
                      </m:rPr>
                      <a:rPr lang="pl-PL" sz="1200" i="1" dirty="0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|</m:t>
                    </m:r>
                    <m:r>
                      <a:rPr lang="pl-PL" sz="1200" i="1" dirty="0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𝑧</m:t>
                    </m:r>
                    <m:r>
                      <a:rPr lang="pl-PL" sz="1200" i="1" dirty="0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−</m:t>
                    </m:r>
                    <m:sSub>
                      <m:sSubPr>
                        <m:ctrlPr>
                          <a:rPr lang="pl-PL" sz="1200" i="1" dirty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</m:ctrlPr>
                      </m:sSubPr>
                      <m:e>
                        <m:r>
                          <a:rPr lang="pl-PL" sz="1200" i="1" dirty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𝑈</m:t>
                        </m:r>
                      </m:e>
                      <m:sub>
                        <m:r>
                          <a:rPr lang="pl-PL" sz="1200" i="1" dirty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𝑐</m:t>
                        </m:r>
                      </m:sub>
                    </m:sSub>
                    <m:sSubSup>
                      <m:sSubSupPr>
                        <m:ctrlPr>
                          <a:rPr lang="pl-PL" sz="1200" i="1" dirty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</m:ctrlPr>
                      </m:sSubSupPr>
                      <m:e>
                        <m:r>
                          <a:rPr lang="pl-PL" sz="1200" i="1" dirty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𝑈</m:t>
                        </m:r>
                      </m:e>
                      <m:sub>
                        <m:r>
                          <a:rPr lang="pl-PL" sz="1200" i="1" dirty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𝑐</m:t>
                        </m:r>
                      </m:sub>
                      <m:sup>
                        <m:r>
                          <a:rPr lang="pl-PL" sz="1200" i="1" dirty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𝑇</m:t>
                        </m:r>
                      </m:sup>
                    </m:sSubSup>
                    <m:r>
                      <a:rPr lang="pl-PL" sz="1200" i="1" dirty="0">
                        <a:solidFill>
                          <a:srgbClr val="475569"/>
                        </a:solidFill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𝑧</m:t>
                    </m:r>
                    <m:sSub>
                      <m:sSubPr>
                        <m:ctrlPr>
                          <a:rPr lang="pl-PL" sz="1200" i="1" dirty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pl-PL" sz="1200" i="1" dirty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|</m:t>
                        </m:r>
                      </m:e>
                      <m:sub>
                        <m:r>
                          <a:rPr lang="pl-PL" sz="1200" i="1" dirty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2</m:t>
                        </m:r>
                      </m:sub>
                    </m:sSub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194560"/>
                <a:ext cx="3657600" cy="1554480"/>
              </a:xfrm>
              <a:prstGeom prst="rect">
                <a:avLst/>
              </a:prstGeom>
              <a:blipFill>
                <a:blip r:embed="rId3"/>
                <a:stretch>
                  <a:fillRect l="-2667"/>
                </a:stretch>
              </a:blipFill>
              <a:ln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685800" y="3886200"/>
            <a:ext cx="3566160" cy="640080"/>
          </a:xfrm>
          <a:prstGeom prst="rect">
            <a:avLst/>
          </a:prstGeom>
          <a:solidFill>
            <a:srgbClr val="CCFB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9502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</a:t>
            </a:r>
            <a:r>
              <a:rPr lang="en-US" altLang="zh-TW" sz="18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USPS 9</a:t>
            </a:r>
            <a:r>
              <a:rPr lang="en-US" altLang="zh-TW" sz="18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r>
              <a:rPr lang="en-US" sz="18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Vectors  vs.  Accuracy</a:t>
            </a:r>
            <a:endParaRPr lang="en-US" sz="1300" dirty="0"/>
          </a:p>
        </p:txBody>
      </p:sp>
      <p:pic>
        <p:nvPicPr>
          <p:cNvPr id="13" name="Image 0" descr="/sessions/eager-magical-pascal/mnt/outputs/notebook_images/cell12_ou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828800"/>
            <a:ext cx="4114800" cy="2560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754880" y="43708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曲線於 k≈10–12</a:t>
            </a:r>
            <a:r>
              <a:rPr lang="en-US" altLang="zh-TW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.5</a:t>
            </a: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趨於飽和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張量分解</a:t>
            </a:r>
            <a:r>
              <a:rPr lang="en-US" sz="12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HOSVD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HOSVD：把影像當 3 階張量、保留 2D 空間結構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一維向量視角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16×16 → flatten → 256 維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破壞像素鄰近關係，幾何結構消失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1645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HOSVD  (Tucker)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二維張量視角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4846320" y="2148840"/>
                <a:ext cx="3657600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134E4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(16, 16,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rgbClr val="134E4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100" i="1" dirty="0" smtClean="0">
                            <a:solidFill>
                              <a:srgbClr val="134E4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𝑁</m:t>
                        </m:r>
                      </m:e>
                      <m:sub>
                        <m:r>
                          <a:rPr lang="en-US" sz="1100" i="1" dirty="0" smtClean="0">
                            <a:solidFill>
                              <a:srgbClr val="134E4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134E4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 三階張量</a:t>
                </a:r>
                <a:endParaRPr lang="en-US" sz="1100" dirty="0"/>
              </a:p>
              <a:p>
                <a:pPr marL="0" indent="0">
                  <a:buNone/>
                </a:pPr>
                <a:r>
                  <a:rPr lang="en-US" sz="1100" dirty="0">
                    <a:solidFill>
                      <a:srgbClr val="134E4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Tucker 分解 → 核心 S × U₁, U₂, U₃</a:t>
                </a:r>
                <a:endParaRPr lang="en-US" sz="1100" dirty="0"/>
              </a:p>
            </p:txBody>
          </p:sp>
        </mc:Choice>
        <mc:Fallback xmlns=""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320" y="2148840"/>
                <a:ext cx="3657600" cy="777240"/>
              </a:xfrm>
              <a:prstGeom prst="rect">
                <a:avLst/>
              </a:prstGeom>
              <a:blipFill>
                <a:blip r:embed="rId3"/>
                <a:stretch>
                  <a:fillRect l="-2333"/>
                </a:stretch>
              </a:blipFill>
              <a:ln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00400"/>
            <a:ext cx="73152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Eldén–Savas 演算法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3"/>
              <p:cNvSpPr/>
              <p:nvPr/>
            </p:nvSpPr>
            <p:spPr>
              <a:xfrm>
                <a:off x="685800" y="3611880"/>
                <a:ext cx="5120640" cy="7315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𝑭𝒋</m:t>
                      </m:r>
                      <m:r>
                        <a:rPr lang="en-US" sz="1200" b="1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 = </m:t>
                      </m:r>
                      <m:r>
                        <a:rPr lang="en-US" sz="1200" b="1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𝑼</m:t>
                      </m:r>
                      <m:r>
                        <a:rPr lang="en-US" sz="1200" b="1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₁ · </m:t>
                      </m:r>
                      <m:r>
                        <a:rPr lang="en-US" sz="1200" b="1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𝑺</m:t>
                      </m:r>
                      <m:r>
                        <a:rPr lang="en-US" sz="1200" b="1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[:,:,</m:t>
                      </m:r>
                      <m:r>
                        <a:rPr lang="en-US" sz="1200" b="1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𝒋</m:t>
                      </m:r>
                      <m:r>
                        <a:rPr lang="en-US" sz="1200" b="1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] · </m:t>
                      </m:r>
                      <m:r>
                        <a:rPr lang="en-US" sz="1200" b="1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𝑼</m:t>
                      </m:r>
                      <m:r>
                        <a:rPr lang="en-US" sz="1200" b="1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₂ᵀ</m:t>
                      </m:r>
                    </m:oMath>
                  </m:oMathPara>
                </a14:m>
                <a:endParaRPr/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k 個 16×16 基底矩陣 → 攤平 → QR 正交化 → 比殘差</a:t>
                </a:r>
                <a:endParaRPr lang="en-US" sz="1200" dirty="0"/>
              </a:p>
            </p:txBody>
          </p:sp>
        </mc:Choice>
        <mc:Fallback xmlns="">
          <p:sp>
            <p:nvSpPr>
              <p:cNvPr id="15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611880"/>
                <a:ext cx="5120640" cy="731520"/>
              </a:xfrm>
              <a:prstGeom prst="rect">
                <a:avLst/>
              </a:prstGeom>
              <a:blipFill>
                <a:blip r:embed="rId4"/>
                <a:stretch>
                  <a:fillRect l="-1905"/>
                </a:stretch>
              </a:blipFill>
              <a:ln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hape 14"/>
          <p:cNvSpPr/>
          <p:nvPr/>
        </p:nvSpPr>
        <p:spPr>
          <a:xfrm>
            <a:off x="6035040" y="3383280"/>
            <a:ext cx="246888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k=12  →  USPS 94.5%</a:t>
            </a:r>
          </a:p>
        </p:txBody>
      </p:sp>
      <p:sp>
        <p:nvSpPr>
          <p:cNvPr id="18" name="Text 16"/>
          <p:cNvSpPr/>
          <p:nvPr/>
        </p:nvSpPr>
        <p:spPr>
          <a:xfrm>
            <a:off x="6126480" y="3840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SVD 相當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但保留 2D 幾何資訊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核心亮點</a:t>
            </a:r>
            <a:r>
              <a:rPr lang="en-US" sz="12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神經網路視角大亂鬥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同一張 16×16 圖片，模型「怎麼看」？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659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1965960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shape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(256,)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一維長條視角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337560"/>
            <a:ext cx="1325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74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 94.0%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自寫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失去空間感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9464" y="1417320"/>
            <a:ext cx="1965960" cy="3108960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9464" y="1417320"/>
            <a:ext cx="196596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9464" y="1645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941064" y="1691640"/>
            <a:ext cx="54864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41064" y="16916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60904" y="21945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shape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60904" y="2377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(16, 16, 1)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60904" y="2880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二維畫布視角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89504" y="3337560"/>
            <a:ext cx="1325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60904" y="3474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 96.5%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60904" y="3749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自寫</a:t>
            </a: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60904" y="4114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 + 平移容忍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81728" y="1417320"/>
            <a:ext cx="19659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1728" y="1417320"/>
            <a:ext cx="1965960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1645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773168" y="21945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shape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73168" y="2377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(16, 16)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73168" y="2880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時間序列視角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01768" y="3337560"/>
            <a:ext cx="1325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3474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 92.2%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73168" y="3749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自寫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73168" y="4114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梯度消失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793992" y="1417320"/>
            <a:ext cx="19659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93992" y="1417320"/>
            <a:ext cx="196596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93992" y="1645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885432" y="21945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shape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85432" y="2377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(16, 16)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85432" y="2880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時序 + 記憶閘門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114032" y="3337560"/>
            <a:ext cx="1325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85432" y="3474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 94.5%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85432" y="3749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自寫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30%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85432" y="4114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閘門稍微挽救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空間視角為王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vs CNN：保留 2D 結構就是制勝關鍵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3291840"/>
          </a:xfrm>
          <a:prstGeom prst="rect">
            <a:avLst/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多層感知器 · 一維長條視角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 → 256 → 128 → 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能學非線性特徵
</a:t>
            </a: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影像被攤平，喪失空間感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520440"/>
            <a:ext cx="16916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5844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7947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2606040" y="3520440"/>
            <a:ext cx="1691640" cy="1005840"/>
          </a:xfrm>
          <a:prstGeom prst="rect">
            <a:avLst/>
          </a:prstGeom>
          <a:solidFill>
            <a:srgbClr val="FEF2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35844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自寫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37947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4023360" cy="3291840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371600"/>
            <a:ext cx="73152" cy="329184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417320"/>
            <a:ext cx="41148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417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9204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卷積神經網路 · 二維畫布視角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4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Conv32 → Pool → Conv64 → Pool → Dense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25603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Conv2D 抓邊緣 / 筆畫
✓ MaxPooling 容忍平移
</a:t>
            </a:r>
            <a:r>
              <a:rPr lang="en-US" sz="12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完整保留 16×16 空間結構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3520440"/>
            <a:ext cx="1691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5844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7947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96.5%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6812280" y="3520440"/>
            <a:ext cx="1691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35844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自寫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12280" y="37947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200" dirty="0"/>
          </a:p>
        </p:txBody>
      </p:sp>
      <p:sp>
        <p:nvSpPr>
          <p:cNvPr id="30" name="Shape 2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極端實驗</a:t>
            </a:r>
            <a:r>
              <a:rPr lang="en-US" sz="12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時序視角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把圖切成 16 條橫線 由上往下讀 — 行不行？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2004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(16 timesteps, 16 features)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2011680" cy="150876"/>
          </a:xfrm>
          <a:prstGeom prst="rect">
            <a:avLst/>
          </a:prstGeom>
          <a:solidFill>
            <a:srgbClr val="0D9488">
              <a:alpha val="2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88820"/>
            <a:ext cx="2011680" cy="150876"/>
          </a:xfrm>
          <a:prstGeom prst="rect">
            <a:avLst/>
          </a:prstGeom>
          <a:solidFill>
            <a:srgbClr val="0D9488">
              <a:alpha val="24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48840"/>
            <a:ext cx="2011680" cy="150876"/>
          </a:xfrm>
          <a:prstGeom prst="rect">
            <a:avLst/>
          </a:prstGeom>
          <a:solidFill>
            <a:srgbClr val="0D9488">
              <a:alpha val="2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308860"/>
            <a:ext cx="2011680" cy="150876"/>
          </a:xfrm>
          <a:prstGeom prst="rect">
            <a:avLst/>
          </a:prstGeom>
          <a:solidFill>
            <a:srgbClr val="0D9488">
              <a:alpha val="32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468880"/>
            <a:ext cx="2011680" cy="150876"/>
          </a:xfrm>
          <a:prstGeom prst="rect">
            <a:avLst/>
          </a:prstGeom>
          <a:solidFill>
            <a:srgbClr val="0D9488">
              <a:alpha val="36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628900"/>
            <a:ext cx="2011680" cy="150876"/>
          </a:xfrm>
          <a:prstGeom prst="rect">
            <a:avLst/>
          </a:prstGeom>
          <a:solidFill>
            <a:srgbClr val="0D9488">
              <a:alpha val="4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788920"/>
            <a:ext cx="2011680" cy="150876"/>
          </a:xfrm>
          <a:prstGeom prst="rect">
            <a:avLst/>
          </a:prstGeom>
          <a:solidFill>
            <a:srgbClr val="0D9488">
              <a:alpha val="44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48940"/>
            <a:ext cx="2011680" cy="150876"/>
          </a:xfrm>
          <a:prstGeom prst="rect">
            <a:avLst/>
          </a:prstGeom>
          <a:solidFill>
            <a:srgbClr val="0D9488">
              <a:alpha val="4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108960"/>
            <a:ext cx="2011680" cy="150876"/>
          </a:xfrm>
          <a:prstGeom prst="rect">
            <a:avLst/>
          </a:prstGeom>
          <a:solidFill>
            <a:srgbClr val="0D9488">
              <a:alpha val="52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268980"/>
            <a:ext cx="2011680" cy="150876"/>
          </a:xfrm>
          <a:prstGeom prst="rect">
            <a:avLst/>
          </a:prstGeom>
          <a:solidFill>
            <a:srgbClr val="0D9488">
              <a:alpha val="56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429000"/>
            <a:ext cx="2011680" cy="150876"/>
          </a:xfrm>
          <a:prstGeom prst="rect">
            <a:avLst/>
          </a:prstGeom>
          <a:solidFill>
            <a:srgbClr val="0D9488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589020"/>
            <a:ext cx="2011680" cy="150876"/>
          </a:xfrm>
          <a:prstGeom prst="rect">
            <a:avLst/>
          </a:prstGeom>
          <a:solidFill>
            <a:srgbClr val="0D9488">
              <a:alpha val="64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749040"/>
            <a:ext cx="2011680" cy="150876"/>
          </a:xfrm>
          <a:prstGeom prst="rect">
            <a:avLst/>
          </a:prstGeom>
          <a:solidFill>
            <a:srgbClr val="0D9488">
              <a:alpha val="6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909060"/>
            <a:ext cx="2011680" cy="150876"/>
          </a:xfrm>
          <a:prstGeom prst="rect">
            <a:avLst/>
          </a:prstGeom>
          <a:solidFill>
            <a:srgbClr val="0D9488">
              <a:alpha val="72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069080"/>
            <a:ext cx="2011680" cy="150876"/>
          </a:xfrm>
          <a:prstGeom prst="rect">
            <a:avLst/>
          </a:prstGeom>
          <a:solidFill>
            <a:srgbClr val="0D9488">
              <a:alpha val="76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229100"/>
            <a:ext cx="2011680" cy="150876"/>
          </a:xfrm>
          <a:prstGeom prst="rect">
            <a:avLst/>
          </a:prstGeom>
          <a:solidFill>
            <a:srgbClr val="0D9488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1800" y="1783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71800" y="4251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t=16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07792" y="1828800"/>
            <a:ext cx="18288" cy="2560320"/>
          </a:xfrm>
          <a:prstGeom prst="rect">
            <a:avLst/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2971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由上往下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4434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靜態影像 ≠ 時間序列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40480" y="1371600"/>
            <a:ext cx="4846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0" y="1371600"/>
            <a:ext cx="73152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SimpleRNN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02336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梯度消失：讀到第 16 行已忘記第 1 行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2336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tanh recurrent · 短記憶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23760" y="1508760"/>
            <a:ext cx="68580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152704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223760" y="169164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</a:rPr>
              <a:t>92.2%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955280" y="1508760"/>
            <a:ext cx="68580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0" y="152704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自寫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955280" y="169164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02336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慘跌 → 圖片沒有真正的時間順序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840480" y="3063240"/>
            <a:ext cx="4846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40480" y="306324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02336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閘門機制 → 較不會梯度消失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02336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/ forget / output gates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223760" y="3200400"/>
            <a:ext cx="68580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0" y="32186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223760" y="33832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94.5%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955280" y="3200400"/>
            <a:ext cx="6858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55280" y="32186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自寫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955280" y="33832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30%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02336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稍微挽救 → 但仍不及 CNN 的空間視角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成果彙整與</a:t>
            </a:r>
            <a:r>
              <a:rPr lang="en-US" sz="12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Domain Gap 洞察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種方法總體表 與 Domain Gap 結論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006409"/>
              </p:ext>
            </p:extLst>
          </p:nvPr>
        </p:nvGraphicFramePr>
        <p:xfrm>
          <a:off x="457200" y="1371600"/>
          <a:ext cx="4572000" cy="263347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USPS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Handwriting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SVD (k=1</a:t>
                      </a:r>
                      <a:r>
                        <a:rPr lang="en-US" altLang="zh-TW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HOSVD (k=1</a:t>
                      </a:r>
                      <a:r>
                        <a:rPr lang="en-US" altLang="zh-TW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kern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371600"/>
            <a:ext cx="3383280" cy="1463040"/>
          </a:xfrm>
          <a:prstGeom prst="rect">
            <a:avLst/>
          </a:prstGeom>
          <a:solidFill>
            <a:srgbClr val="134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4068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關鍵發現  ·  Domain Gap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40680" y="1828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⟶  </a:t>
            </a: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44068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同一個 CNN · USPS 測試集 → 親手寫的數字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303520" y="3017520"/>
            <a:ext cx="33832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7"/>
          <p:cNvSpPr/>
          <p:nvPr/>
        </p:nvSpPr>
        <p:spPr>
          <a:xfrm>
            <a:off x="5303520" y="3017520"/>
            <a:ext cx="73152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4068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  ·  Conclusion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40680" y="33832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空間模型 (CNN)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CV </a:t>
            </a:r>
            <a:r>
              <a:rPr lang="en-US" sz="11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任務上</a:t>
            </a:r>
            <a:r>
              <a:rPr lang="zh-TW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最佳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訓練資料分佈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貼近真實場景 比模型多深更關鍵。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638</Words>
  <Application>Microsoft Office PowerPoint</Application>
  <PresentationFormat>如螢幕大小 (16:9)</PresentationFormat>
  <Paragraphs>191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HW2 手寫數字辨識</dc:title>
  <dc:subject>PptxGenJS Presentation</dc:subject>
  <dc:creator>Eric Huang</dc:creator>
  <cp:lastModifiedBy>Eric Huang</cp:lastModifiedBy>
  <cp:revision>11</cp:revision>
  <dcterms:created xsi:type="dcterms:W3CDTF">2026-05-14T11:18:08Z</dcterms:created>
  <dcterms:modified xsi:type="dcterms:W3CDTF">2026-05-17T17:51:54Z</dcterms:modified>
</cp:coreProperties>
</file>